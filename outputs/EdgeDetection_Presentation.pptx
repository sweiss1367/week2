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Today I'm presenting my Week 2 mini-project on real-time edge detection and morphological filtering applied to a robotic vision system. The goal of this project was to build a working computer vision pipeline in Python that can identify the boundaries of objects in a live video feed — a core capability for any autonomous robot that needs to understand its physical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business problem is robot perception. A robot on a warehouse floor or manufacturing line cannot operate safely if it cannot 'see' where objects begin and end. Edge detection is the first step in translating a raw camera image into actionable information. Morphological filtering is then applied to remove noise from the edge map, producing a cleaner signal for downstream decision-making. Without this pipeline, the robot would either miss objects or misidentify their boundaries — both costly outcomes in an operational setting.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walk through the eight-step pipeline. We start by capturing a frame from the webcam. We convert it to grayscale because colour information is not needed for edge detection and processing one channel is faster. Gaussian blur smooths out pixel-level noise before the Canny algorithm runs its gradient calculation. Canny produces a binary edge map. We then apply three morphological operations — dilation, erosion, and closing — each offering a different way to clean and reinforce the edge boundaries. Finally, we overlay the edges in green on the original colour frame so a human operator can validate the output visually.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can see three key stages of the pipeline side by side. On the left is the original captured frame showing geometric shapes used as stand-ins for real objects. In the centre is the raw Canny edge map — a binary image where white pixels represent detected boundaries. On the right is the final overlay, where those edges are projected back onto the colour image in green. In a real deployment, this overlay is what a robot's control system would consume to determine object positions and boundaries.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compares the three morphological outputs. The raw Canny edges can contain small breaks in contours or stray noise pixels. Dilation fills those breaks by expanding each edge pixel outward — analogous to widening a road to make it more visible. Erosion takes the opposite approach, stripping away thin noise filaments while preserving thicker, genuine boundaries. The closing operation — dilation followed by erosion — is the most commonly used because it seals gaps without permanently enlarging the edge map.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summarise, this project demonstrates a complete, working robotic vision pipeline built entirely in Python using OpenCV. The system can process live video, detect object boundaries in real time, and apply morphological filters to produce clean, reliable edge maps. From a business perspective, this technology directly reduces the cost of robot programming and increases operational safety by giving machines reliable spatial awareness. The code is modular, well-documented, and ready to be extended — for example, by connecting it to a ROS2 robotic controller or adding a machine-learning classifier on top of the edge maps. Thank you, and I'm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Rectangle 1"/>
          <p:cNvSpPr/>
          <p:nvPr/>
        </p:nvSpPr>
        <p:spPr>
          <a:xfrm>
            <a:off x="0" y="5120640"/>
            <a:ext cx="12188952" cy="7315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0698480" cy="1005840"/>
          </a:xfrm>
          <a:prstGeom prst="rect">
            <a:avLst/>
          </a:prstGeom>
          <a:noFill/>
        </p:spPr>
        <p:txBody>
          <a:bodyPr wrap="square">
            <a:spAutoFit/>
          </a:bodyPr>
          <a:lstStyle/>
          <a:p>
            <a:pPr algn="ctr"/>
            <a:r>
              <a:rPr sz="4000" b="1">
                <a:solidFill>
                  <a:srgbClr val="FFFFFF"/>
                </a:solidFill>
              </a:rPr>
              <a:t>REAL-TIME EDGE DETECTION</a:t>
            </a:r>
          </a:p>
        </p:txBody>
      </p:sp>
      <p:sp>
        <p:nvSpPr>
          <p:cNvPr id="4" name="TextBox 3"/>
          <p:cNvSpPr txBox="1"/>
          <p:nvPr/>
        </p:nvSpPr>
        <p:spPr>
          <a:xfrm>
            <a:off x="731520" y="2148840"/>
            <a:ext cx="10698480" cy="731520"/>
          </a:xfrm>
          <a:prstGeom prst="rect">
            <a:avLst/>
          </a:prstGeom>
          <a:noFill/>
        </p:spPr>
        <p:txBody>
          <a:bodyPr wrap="square">
            <a:spAutoFit/>
          </a:bodyPr>
          <a:lstStyle/>
          <a:p>
            <a:pPr algn="ctr"/>
            <a:r>
              <a:rPr sz="2600" b="0">
                <a:solidFill>
                  <a:srgbClr val="BDD7EE"/>
                </a:solidFill>
              </a:rPr>
              <a:t>&amp; Morphological Filtering for Robotic Vision</a:t>
            </a:r>
          </a:p>
        </p:txBody>
      </p:sp>
      <p:sp>
        <p:nvSpPr>
          <p:cNvPr id="5" name="TextBox 4"/>
          <p:cNvSpPr txBox="1"/>
          <p:nvPr/>
        </p:nvSpPr>
        <p:spPr>
          <a:xfrm>
            <a:off x="731520" y="5394960"/>
            <a:ext cx="10698480" cy="548640"/>
          </a:xfrm>
          <a:prstGeom prst="rect">
            <a:avLst/>
          </a:prstGeom>
          <a:noFill/>
        </p:spPr>
        <p:txBody>
          <a:bodyPr wrap="square">
            <a:spAutoFit/>
          </a:bodyPr>
          <a:lstStyle/>
          <a:p>
            <a:pPr algn="ctr"/>
            <a:r>
              <a:rPr sz="1800" b="0">
                <a:solidFill>
                  <a:srgbClr val="BDD7EE"/>
                </a:solidFill>
              </a:rPr>
              <a:t>Week 2 Mini-Project  |  Computer Vision  |  MBA Program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r>
              <a:rPr sz="3000" b="1">
                <a:solidFill>
                  <a:srgbClr val="1F3964"/>
                </a:solidFill>
              </a:rPr>
              <a:t>The Business Problem</a:t>
            </a:r>
          </a:p>
        </p:txBody>
      </p:sp>
      <p:sp>
        <p:nvSpPr>
          <p:cNvPr id="3" name="TextBox 2"/>
          <p:cNvSpPr txBox="1"/>
          <p:nvPr/>
        </p:nvSpPr>
        <p:spPr>
          <a:xfrm>
            <a:off x="640080" y="1097280"/>
            <a:ext cx="10789920" cy="5029200"/>
          </a:xfrm>
          <a:prstGeom prst="rect">
            <a:avLst/>
          </a:prstGeom>
          <a:noFill/>
        </p:spPr>
        <p:txBody>
          <a:bodyPr wrap="square">
            <a:spAutoFit/>
          </a:bodyPr>
          <a:lstStyle/>
          <a:p>
            <a:pPr algn="l"/>
            <a:r>
              <a:rPr sz="2000" b="0">
                <a:solidFill>
                  <a:srgbClr val="1F3964"/>
                </a:solidFill>
              </a:rPr>
              <a:t>• Robots must detect object boundaries in real time to navigate, pick, and place items safely.
• Manual programming of every object shape is impractical — robots need adaptive vision.
• Edge detection converts raw camera pixels into structured boundary data.
• Morphological filters clean the signal, reducing noise that could cause incorrect decisions.
• Together, these techniques form the perception layer of an industrial robotic system.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r>
              <a:rPr sz="3000" b="1">
                <a:solidFill>
                  <a:srgbClr val="1F3964"/>
                </a:solidFill>
              </a:rPr>
              <a:t>Technical Methodology</a:t>
            </a:r>
          </a:p>
        </p:txBody>
      </p:sp>
      <p:sp>
        <p:nvSpPr>
          <p:cNvPr id="3" name="TextBox 2"/>
          <p:cNvSpPr txBox="1"/>
          <p:nvPr/>
        </p:nvSpPr>
        <p:spPr>
          <a:xfrm>
            <a:off x="731520" y="1051560"/>
            <a:ext cx="10972800" cy="411480"/>
          </a:xfrm>
          <a:prstGeom prst="rect">
            <a:avLst/>
          </a:prstGeom>
          <a:noFill/>
        </p:spPr>
        <p:txBody>
          <a:bodyPr wrap="square">
            <a:spAutoFit/>
          </a:bodyPr>
          <a:lstStyle/>
          <a:p>
            <a:pPr algn="l"/>
            <a:r>
              <a:rPr sz="1700" b="0">
                <a:solidFill>
                  <a:srgbClr val="1F3964"/>
                </a:solidFill>
              </a:rPr>
              <a:t>1. Capture:  Live frame from webcam via OpenCV VideoCapture.</a:t>
            </a:r>
          </a:p>
        </p:txBody>
      </p:sp>
      <p:sp>
        <p:nvSpPr>
          <p:cNvPr id="4" name="TextBox 3"/>
          <p:cNvSpPr txBox="1"/>
          <p:nvPr/>
        </p:nvSpPr>
        <p:spPr>
          <a:xfrm>
            <a:off x="731520" y="1472184"/>
            <a:ext cx="10972800" cy="411480"/>
          </a:xfrm>
          <a:prstGeom prst="rect">
            <a:avLst/>
          </a:prstGeom>
          <a:noFill/>
        </p:spPr>
        <p:txBody>
          <a:bodyPr wrap="square">
            <a:spAutoFit/>
          </a:bodyPr>
          <a:lstStyle/>
          <a:p>
            <a:pPr algn="l"/>
            <a:r>
              <a:rPr sz="1700" b="0">
                <a:solidFill>
                  <a:srgbClr val="1F3964"/>
                </a:solidFill>
              </a:rPr>
              <a:t>2. Grayscale:  Convert BGR colour frame to single-channel grayscale.</a:t>
            </a:r>
          </a:p>
        </p:txBody>
      </p:sp>
      <p:sp>
        <p:nvSpPr>
          <p:cNvPr id="5" name="TextBox 4"/>
          <p:cNvSpPr txBox="1"/>
          <p:nvPr/>
        </p:nvSpPr>
        <p:spPr>
          <a:xfrm>
            <a:off x="731520" y="1892808"/>
            <a:ext cx="10972800" cy="411480"/>
          </a:xfrm>
          <a:prstGeom prst="rect">
            <a:avLst/>
          </a:prstGeom>
          <a:noFill/>
        </p:spPr>
        <p:txBody>
          <a:bodyPr wrap="square">
            <a:spAutoFit/>
          </a:bodyPr>
          <a:lstStyle/>
          <a:p>
            <a:pPr algn="l"/>
            <a:r>
              <a:rPr sz="1700" b="0">
                <a:solidFill>
                  <a:srgbClr val="1F3964"/>
                </a:solidFill>
              </a:rPr>
              <a:t>3. Gaussian Blur:  Smooth the image (5×5 kernel) to suppress high-frequency noise.</a:t>
            </a:r>
          </a:p>
        </p:txBody>
      </p:sp>
      <p:sp>
        <p:nvSpPr>
          <p:cNvPr id="6" name="TextBox 5"/>
          <p:cNvSpPr txBox="1"/>
          <p:nvPr/>
        </p:nvSpPr>
        <p:spPr>
          <a:xfrm>
            <a:off x="731520" y="2313432"/>
            <a:ext cx="10972800" cy="411480"/>
          </a:xfrm>
          <a:prstGeom prst="rect">
            <a:avLst/>
          </a:prstGeom>
          <a:noFill/>
        </p:spPr>
        <p:txBody>
          <a:bodyPr wrap="square">
            <a:spAutoFit/>
          </a:bodyPr>
          <a:lstStyle/>
          <a:p>
            <a:pPr algn="l"/>
            <a:r>
              <a:rPr sz="1700" b="0">
                <a:solidFill>
                  <a:srgbClr val="1F3964"/>
                </a:solidFill>
              </a:rPr>
              <a:t>4. Canny Detection:  Identify edges using gradient thresholds (low=50, high=150).</a:t>
            </a:r>
          </a:p>
        </p:txBody>
      </p:sp>
      <p:sp>
        <p:nvSpPr>
          <p:cNvPr id="7" name="TextBox 6"/>
          <p:cNvSpPr txBox="1"/>
          <p:nvPr/>
        </p:nvSpPr>
        <p:spPr>
          <a:xfrm>
            <a:off x="731520" y="2734056"/>
            <a:ext cx="10972800" cy="411480"/>
          </a:xfrm>
          <a:prstGeom prst="rect">
            <a:avLst/>
          </a:prstGeom>
          <a:noFill/>
        </p:spPr>
        <p:txBody>
          <a:bodyPr wrap="square">
            <a:spAutoFit/>
          </a:bodyPr>
          <a:lstStyle/>
          <a:p>
            <a:pPr algn="l"/>
            <a:r>
              <a:rPr sz="1700" b="0">
                <a:solidFill>
                  <a:srgbClr val="1F3964"/>
                </a:solidFill>
              </a:rPr>
              <a:t>5. Dilation:  Expand edge pixels outward — closes small gaps in boundaries.</a:t>
            </a:r>
          </a:p>
        </p:txBody>
      </p:sp>
      <p:sp>
        <p:nvSpPr>
          <p:cNvPr id="8" name="TextBox 7"/>
          <p:cNvSpPr txBox="1"/>
          <p:nvPr/>
        </p:nvSpPr>
        <p:spPr>
          <a:xfrm>
            <a:off x="731520" y="3154680"/>
            <a:ext cx="10972800" cy="411480"/>
          </a:xfrm>
          <a:prstGeom prst="rect">
            <a:avLst/>
          </a:prstGeom>
          <a:noFill/>
        </p:spPr>
        <p:txBody>
          <a:bodyPr wrap="square">
            <a:spAutoFit/>
          </a:bodyPr>
          <a:lstStyle/>
          <a:p>
            <a:pPr algn="l"/>
            <a:r>
              <a:rPr sz="1700" b="0">
                <a:solidFill>
                  <a:srgbClr val="1F3964"/>
                </a:solidFill>
              </a:rPr>
              <a:t>6. Erosion:  Shrink edge pixels — removes thin noise filaments.</a:t>
            </a:r>
          </a:p>
        </p:txBody>
      </p:sp>
      <p:sp>
        <p:nvSpPr>
          <p:cNvPr id="9" name="TextBox 8"/>
          <p:cNvSpPr txBox="1"/>
          <p:nvPr/>
        </p:nvSpPr>
        <p:spPr>
          <a:xfrm>
            <a:off x="731520" y="3575304"/>
            <a:ext cx="10972800" cy="411480"/>
          </a:xfrm>
          <a:prstGeom prst="rect">
            <a:avLst/>
          </a:prstGeom>
          <a:noFill/>
        </p:spPr>
        <p:txBody>
          <a:bodyPr wrap="square">
            <a:spAutoFit/>
          </a:bodyPr>
          <a:lstStyle/>
          <a:p>
            <a:pPr algn="l"/>
            <a:r>
              <a:rPr sz="1700" b="0">
                <a:solidFill>
                  <a:srgbClr val="1F3964"/>
                </a:solidFill>
              </a:rPr>
              <a:t>7. Closing:  Dilation followed by erosion — seals broken contours.</a:t>
            </a:r>
          </a:p>
        </p:txBody>
      </p:sp>
      <p:sp>
        <p:nvSpPr>
          <p:cNvPr id="10" name="TextBox 9"/>
          <p:cNvSpPr txBox="1"/>
          <p:nvPr/>
        </p:nvSpPr>
        <p:spPr>
          <a:xfrm>
            <a:off x="731520" y="3995928"/>
            <a:ext cx="10972800" cy="411480"/>
          </a:xfrm>
          <a:prstGeom prst="rect">
            <a:avLst/>
          </a:prstGeom>
          <a:noFill/>
        </p:spPr>
        <p:txBody>
          <a:bodyPr wrap="square">
            <a:spAutoFit/>
          </a:bodyPr>
          <a:lstStyle/>
          <a:p>
            <a:pPr algn="l"/>
            <a:r>
              <a:rPr sz="1700" b="0">
                <a:solidFill>
                  <a:srgbClr val="1F3964"/>
                </a:solidFill>
              </a:rPr>
              <a:t>8. Overlay:  Project green edges onto the original colour frame for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r>
              <a:rPr sz="3000" b="1">
                <a:solidFill>
                  <a:srgbClr val="1F3964"/>
                </a:solidFill>
              </a:rPr>
              <a:t>Pipeline Output — Visual Results</a:t>
            </a:r>
          </a:p>
        </p:txBody>
      </p:sp>
      <p:pic>
        <p:nvPicPr>
          <p:cNvPr id="3" name="Picture 2" descr="panel_original.png"/>
          <p:cNvPicPr>
            <a:picLocks noChangeAspect="1"/>
          </p:cNvPicPr>
          <p:nvPr/>
        </p:nvPicPr>
        <p:blipFill>
          <a:blip r:embed="rId2"/>
          <a:stretch>
            <a:fillRect/>
          </a:stretch>
        </p:blipFill>
        <p:spPr>
          <a:xfrm>
            <a:off x="365760" y="1097280"/>
            <a:ext cx="3566160" cy="2651760"/>
          </a:xfrm>
          <a:prstGeom prst="rect">
            <a:avLst/>
          </a:prstGeom>
        </p:spPr>
      </p:pic>
      <p:sp>
        <p:nvSpPr>
          <p:cNvPr id="4" name="TextBox 3"/>
          <p:cNvSpPr txBox="1"/>
          <p:nvPr/>
        </p:nvSpPr>
        <p:spPr>
          <a:xfrm>
            <a:off x="365760" y="3840480"/>
            <a:ext cx="3566160" cy="365760"/>
          </a:xfrm>
          <a:prstGeom prst="rect">
            <a:avLst/>
          </a:prstGeom>
          <a:noFill/>
        </p:spPr>
        <p:txBody>
          <a:bodyPr wrap="square">
            <a:spAutoFit/>
          </a:bodyPr>
          <a:lstStyle/>
          <a:p>
            <a:pPr algn="ctr"/>
            <a:r>
              <a:rPr sz="1600" b="0">
                <a:solidFill>
                  <a:srgbClr val="1F3964"/>
                </a:solidFill>
              </a:rPr>
              <a:t>Original Frame</a:t>
            </a:r>
          </a:p>
        </p:txBody>
      </p:sp>
      <p:pic>
        <p:nvPicPr>
          <p:cNvPr id="5" name="Picture 4" descr="panel_edges.png"/>
          <p:cNvPicPr>
            <a:picLocks noChangeAspect="1"/>
          </p:cNvPicPr>
          <p:nvPr/>
        </p:nvPicPr>
        <p:blipFill>
          <a:blip r:embed="rId3"/>
          <a:stretch>
            <a:fillRect/>
          </a:stretch>
        </p:blipFill>
        <p:spPr>
          <a:xfrm>
            <a:off x="4206240" y="1097280"/>
            <a:ext cx="3566160" cy="2651760"/>
          </a:xfrm>
          <a:prstGeom prst="rect">
            <a:avLst/>
          </a:prstGeom>
        </p:spPr>
      </p:pic>
      <p:sp>
        <p:nvSpPr>
          <p:cNvPr id="6" name="TextBox 5"/>
          <p:cNvSpPr txBox="1"/>
          <p:nvPr/>
        </p:nvSpPr>
        <p:spPr>
          <a:xfrm>
            <a:off x="4206240" y="3840480"/>
            <a:ext cx="3566160" cy="365760"/>
          </a:xfrm>
          <a:prstGeom prst="rect">
            <a:avLst/>
          </a:prstGeom>
          <a:noFill/>
        </p:spPr>
        <p:txBody>
          <a:bodyPr wrap="square">
            <a:spAutoFit/>
          </a:bodyPr>
          <a:lstStyle/>
          <a:p>
            <a:pPr algn="ctr"/>
            <a:r>
              <a:rPr sz="1600" b="0">
                <a:solidFill>
                  <a:srgbClr val="1F3964"/>
                </a:solidFill>
              </a:rPr>
              <a:t>Canny Edges</a:t>
            </a:r>
          </a:p>
        </p:txBody>
      </p:sp>
      <p:pic>
        <p:nvPicPr>
          <p:cNvPr id="7" name="Picture 6" descr="panel_overlay.png"/>
          <p:cNvPicPr>
            <a:picLocks noChangeAspect="1"/>
          </p:cNvPicPr>
          <p:nvPr/>
        </p:nvPicPr>
        <p:blipFill>
          <a:blip r:embed="rId4"/>
          <a:stretch>
            <a:fillRect/>
          </a:stretch>
        </p:blipFill>
        <p:spPr>
          <a:xfrm>
            <a:off x="8046720" y="1097280"/>
            <a:ext cx="3566160" cy="2651760"/>
          </a:xfrm>
          <a:prstGeom prst="rect">
            <a:avLst/>
          </a:prstGeom>
        </p:spPr>
      </p:pic>
      <p:sp>
        <p:nvSpPr>
          <p:cNvPr id="8" name="TextBox 7"/>
          <p:cNvSpPr txBox="1"/>
          <p:nvPr/>
        </p:nvSpPr>
        <p:spPr>
          <a:xfrm>
            <a:off x="8046720" y="3840480"/>
            <a:ext cx="3566160" cy="365760"/>
          </a:xfrm>
          <a:prstGeom prst="rect">
            <a:avLst/>
          </a:prstGeom>
          <a:noFill/>
        </p:spPr>
        <p:txBody>
          <a:bodyPr wrap="square">
            <a:spAutoFit/>
          </a:bodyPr>
          <a:lstStyle/>
          <a:p>
            <a:pPr algn="ctr"/>
            <a:r>
              <a:rPr sz="1600" b="0">
                <a:solidFill>
                  <a:srgbClr val="1F3964"/>
                </a:solidFill>
              </a:rPr>
              <a:t>Edge Overlay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r>
              <a:rPr sz="3000" b="1">
                <a:solidFill>
                  <a:srgbClr val="1F3964"/>
                </a:solidFill>
              </a:rPr>
              <a:t>Morphological Filtering — Comparison</a:t>
            </a:r>
          </a:p>
        </p:txBody>
      </p:sp>
      <p:pic>
        <p:nvPicPr>
          <p:cNvPr id="3" name="Picture 2" descr="panel_edges.png"/>
          <p:cNvPicPr>
            <a:picLocks noChangeAspect="1"/>
          </p:cNvPicPr>
          <p:nvPr/>
        </p:nvPicPr>
        <p:blipFill>
          <a:blip r:embed="rId2"/>
          <a:stretch>
            <a:fillRect/>
          </a:stretch>
        </p:blipFill>
        <p:spPr>
          <a:xfrm>
            <a:off x="365760" y="1097280"/>
            <a:ext cx="3566160" cy="2651760"/>
          </a:xfrm>
          <a:prstGeom prst="rect">
            <a:avLst/>
          </a:prstGeom>
        </p:spPr>
      </p:pic>
      <p:sp>
        <p:nvSpPr>
          <p:cNvPr id="4" name="TextBox 3"/>
          <p:cNvSpPr txBox="1"/>
          <p:nvPr/>
        </p:nvSpPr>
        <p:spPr>
          <a:xfrm>
            <a:off x="365760" y="3840480"/>
            <a:ext cx="3566160" cy="365760"/>
          </a:xfrm>
          <a:prstGeom prst="rect">
            <a:avLst/>
          </a:prstGeom>
          <a:noFill/>
        </p:spPr>
        <p:txBody>
          <a:bodyPr wrap="square">
            <a:spAutoFit/>
          </a:bodyPr>
          <a:lstStyle/>
          <a:p>
            <a:pPr algn="ctr"/>
            <a:r>
              <a:rPr sz="1600" b="0">
                <a:solidFill>
                  <a:srgbClr val="1F3964"/>
                </a:solidFill>
              </a:rPr>
              <a:t>Raw Canny Edges</a:t>
            </a:r>
          </a:p>
        </p:txBody>
      </p:sp>
      <p:pic>
        <p:nvPicPr>
          <p:cNvPr id="5" name="Picture 4" descr="panel_dilated.png"/>
          <p:cNvPicPr>
            <a:picLocks noChangeAspect="1"/>
          </p:cNvPicPr>
          <p:nvPr/>
        </p:nvPicPr>
        <p:blipFill>
          <a:blip r:embed="rId3"/>
          <a:stretch>
            <a:fillRect/>
          </a:stretch>
        </p:blipFill>
        <p:spPr>
          <a:xfrm>
            <a:off x="4206240" y="1097280"/>
            <a:ext cx="3566160" cy="2651760"/>
          </a:xfrm>
          <a:prstGeom prst="rect">
            <a:avLst/>
          </a:prstGeom>
        </p:spPr>
      </p:pic>
      <p:sp>
        <p:nvSpPr>
          <p:cNvPr id="6" name="TextBox 5"/>
          <p:cNvSpPr txBox="1"/>
          <p:nvPr/>
        </p:nvSpPr>
        <p:spPr>
          <a:xfrm>
            <a:off x="4206240" y="3840480"/>
            <a:ext cx="3566160" cy="365760"/>
          </a:xfrm>
          <a:prstGeom prst="rect">
            <a:avLst/>
          </a:prstGeom>
          <a:noFill/>
        </p:spPr>
        <p:txBody>
          <a:bodyPr wrap="square">
            <a:spAutoFit/>
          </a:bodyPr>
          <a:lstStyle/>
          <a:p>
            <a:pPr algn="ctr"/>
            <a:r>
              <a:rPr sz="1600" b="0">
                <a:solidFill>
                  <a:srgbClr val="1F3964"/>
                </a:solidFill>
              </a:rPr>
              <a:t>After Dilation</a:t>
            </a:r>
          </a:p>
        </p:txBody>
      </p:sp>
      <p:pic>
        <p:nvPicPr>
          <p:cNvPr id="7" name="Picture 6" descr="panel_eroded.png"/>
          <p:cNvPicPr>
            <a:picLocks noChangeAspect="1"/>
          </p:cNvPicPr>
          <p:nvPr/>
        </p:nvPicPr>
        <p:blipFill>
          <a:blip r:embed="rId4"/>
          <a:stretch>
            <a:fillRect/>
          </a:stretch>
        </p:blipFill>
        <p:spPr>
          <a:xfrm>
            <a:off x="8046720" y="1097280"/>
            <a:ext cx="3566160" cy="2651760"/>
          </a:xfrm>
          <a:prstGeom prst="rect">
            <a:avLst/>
          </a:prstGeom>
        </p:spPr>
      </p:pic>
      <p:sp>
        <p:nvSpPr>
          <p:cNvPr id="8" name="TextBox 7"/>
          <p:cNvSpPr txBox="1"/>
          <p:nvPr/>
        </p:nvSpPr>
        <p:spPr>
          <a:xfrm>
            <a:off x="8046720" y="3840480"/>
            <a:ext cx="3566160" cy="365760"/>
          </a:xfrm>
          <a:prstGeom prst="rect">
            <a:avLst/>
          </a:prstGeom>
          <a:noFill/>
        </p:spPr>
        <p:txBody>
          <a:bodyPr wrap="square">
            <a:spAutoFit/>
          </a:bodyPr>
          <a:lstStyle/>
          <a:p>
            <a:pPr algn="ctr"/>
            <a:r>
              <a:rPr sz="1600" b="0">
                <a:solidFill>
                  <a:srgbClr val="1F3964"/>
                </a:solidFill>
              </a:rPr>
              <a:t>After Erosion</a:t>
            </a:r>
          </a:p>
        </p:txBody>
      </p:sp>
      <p:sp>
        <p:nvSpPr>
          <p:cNvPr id="9" name="TextBox 8"/>
          <p:cNvSpPr txBox="1"/>
          <p:nvPr/>
        </p:nvSpPr>
        <p:spPr>
          <a:xfrm>
            <a:off x="731520" y="4297680"/>
            <a:ext cx="10698480" cy="1645920"/>
          </a:xfrm>
          <a:prstGeom prst="rect">
            <a:avLst/>
          </a:prstGeom>
          <a:noFill/>
        </p:spPr>
        <p:txBody>
          <a:bodyPr wrap="square">
            <a:spAutoFit/>
          </a:bodyPr>
          <a:lstStyle/>
          <a:p>
            <a:pPr algn="l"/>
            <a:r>
              <a:rPr sz="1700" b="0">
                <a:solidFill>
                  <a:srgbClr val="1F3964"/>
                </a:solidFill>
              </a:rPr>
              <a:t>Dilation: thickens boundaries — useful when edges are faint or broken.
Erosion: thins boundaries — removes noise pixels around true edges.
Closing (Dilate → Erode): fills gaps in contours without enlarging overall shape.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Rectangle 1"/>
          <p:cNvSpPr/>
          <p:nvPr/>
        </p:nvSpPr>
        <p:spPr>
          <a:xfrm>
            <a:off x="0" y="173736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731520"/>
          </a:xfrm>
          <a:prstGeom prst="rect">
            <a:avLst/>
          </a:prstGeom>
          <a:noFill/>
        </p:spPr>
        <p:txBody>
          <a:bodyPr wrap="square">
            <a:spAutoFit/>
          </a:bodyPr>
          <a:lstStyle/>
          <a:p>
            <a:pPr algn="l"/>
            <a:r>
              <a:rPr sz="3000" b="1">
                <a:solidFill>
                  <a:srgbClr val="FFFFFF"/>
                </a:solidFill>
              </a:rPr>
              <a:t>Key Takeaways &amp; Business Value</a:t>
            </a:r>
          </a:p>
        </p:txBody>
      </p:sp>
      <p:sp>
        <p:nvSpPr>
          <p:cNvPr id="4" name="TextBox 3"/>
          <p:cNvSpPr txBox="1"/>
          <p:nvPr/>
        </p:nvSpPr>
        <p:spPr>
          <a:xfrm>
            <a:off x="731520" y="1920240"/>
            <a:ext cx="10698480" cy="4572000"/>
          </a:xfrm>
          <a:prstGeom prst="rect">
            <a:avLst/>
          </a:prstGeom>
          <a:noFill/>
        </p:spPr>
        <p:txBody>
          <a:bodyPr wrap="square">
            <a:spAutoFit/>
          </a:bodyPr>
          <a:lstStyle/>
          <a:p>
            <a:pPr algn="l"/>
            <a:r>
              <a:rPr sz="1900" b="0">
                <a:solidFill>
                  <a:srgbClr val="FFFFFF"/>
                </a:solidFill>
              </a:rPr>
              <a:t>• Real-time edge detection is a proven, low-cost perception technique deployable on standard hardware.
• Morphological filtering increases reliability — fewer false positives mean fewer robot errors.
• The modular pipeline (capture → filter → detect → clean → overlay) is extensible to object classification, depth estimation, and path planning.
• OpenCV's optimised C++ back-end processes HD frames at &gt;30 fps on a laptop CPU — no GPU required.
• Next steps: integrate with a physical robotic arm controller (ROS2) and add contour-based object labelling.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